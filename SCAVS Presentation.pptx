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swald Bold" charset="1" panose="00000800000000000000"/>
      <p:regular r:id="rId18"/>
    </p:embeddedFont>
    <p:embeddedFont>
      <p:font typeface="Quicksand Bold" charset="1" panose="00000800000000000000"/>
      <p:regular r:id="rId19"/>
    </p:embeddedFont>
    <p:embeddedFont>
      <p:font typeface="Quicksand Medium" charset="1" panose="00000600000000000000"/>
      <p:regular r:id="rId20"/>
    </p:embeddedFont>
    <p:embeddedFont>
      <p:font typeface="Quicksand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8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9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16912" y="-911620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9005" y="5144445"/>
            <a:ext cx="17369989" cy="318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60"/>
              </a:lnSpc>
            </a:pPr>
            <a:r>
              <a:rPr lang="en-US" b="true" sz="12000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SWIFTGUARD ANTIVIRUS SCANNER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88581" y="8909088"/>
            <a:ext cx="11510839" cy="6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b="true" sz="4002">
                <a:solidFill>
                  <a:srgbClr val="0F2C3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Presentation by Mohamed Khaled Nassar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731652" y="659098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8"/>
                </a:lnTo>
                <a:lnTo>
                  <a:pt x="0" y="2115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514350" y="-1543050"/>
            <a:ext cx="4558885" cy="3119228"/>
            <a:chOff x="0" y="0"/>
            <a:chExt cx="118794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7942" cy="812800"/>
            </a:xfrm>
            <a:custGeom>
              <a:avLst/>
              <a:gdLst/>
              <a:ahLst/>
              <a:cxnLst/>
              <a:rect r="r" b="b" t="t" l="l"/>
              <a:pathLst>
                <a:path h="812800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002716" y="9230550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4458759" y="7280152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5393" y="217681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180152" y="594199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3" y="0"/>
                </a:lnTo>
                <a:lnTo>
                  <a:pt x="864383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37010" y="2429163"/>
            <a:ext cx="10418655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Welcome to the presentation on SwiftGuard Antivirus Scanner.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7219" y="4921188"/>
            <a:ext cx="1211823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 this presentation, we will delve into the SwiftGuard Antivirus Scanner Codebase Overview, Architecture and Core Modules, Innovative Approaches, Technical Deep Dive, Future Roadmap, Conclusion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14930390" y="7488653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1602523" y="1602524"/>
                </a:moveTo>
                <a:lnTo>
                  <a:pt x="0" y="1602524"/>
                </a:lnTo>
                <a:lnTo>
                  <a:pt x="0" y="0"/>
                </a:lnTo>
                <a:lnTo>
                  <a:pt x="1602523" y="0"/>
                </a:lnTo>
                <a:lnTo>
                  <a:pt x="1602523" y="160252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17402" y="-19050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51259" y="9358566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458759" y="8214825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996118" cy="10954000"/>
            <a:chOff x="0" y="0"/>
            <a:chExt cx="1052475" cy="2885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39160" y="8401398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0" y="0"/>
                </a:moveTo>
                <a:lnTo>
                  <a:pt x="1602524" y="0"/>
                </a:lnTo>
                <a:lnTo>
                  <a:pt x="1602524" y="1602524"/>
                </a:lnTo>
                <a:lnTo>
                  <a:pt x="0" y="16025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44228" y="4018577"/>
            <a:ext cx="9974672" cy="6249350"/>
          </a:xfrm>
          <a:custGeom>
            <a:avLst/>
            <a:gdLst/>
            <a:ahLst/>
            <a:cxnLst/>
            <a:rect r="r" b="b" t="t" l="l"/>
            <a:pathLst>
              <a:path h="6249350" w="9974672">
                <a:moveTo>
                  <a:pt x="0" y="0"/>
                </a:moveTo>
                <a:lnTo>
                  <a:pt x="9974672" y="0"/>
                </a:lnTo>
                <a:lnTo>
                  <a:pt x="9974672" y="6249349"/>
                </a:lnTo>
                <a:lnTo>
                  <a:pt x="0" y="62493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183" t="0" r="0" b="-281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58759" y="1052659"/>
            <a:ext cx="12345610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SwiftGuard Antivirus Scanner (SGAVS) is a state-of-the-art cybersecurity solution designed to provide comprehensive protection against evolving digital threats. Built with a modular and extensible architecture, SGAVS ensures both robustness and scalability. The core modules include: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-514350" y="1463526"/>
            <a:ext cx="4558885" cy="1998406"/>
            <a:chOff x="0" y="0"/>
            <a:chExt cx="1187942" cy="5207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7942" cy="520739"/>
            </a:xfrm>
            <a:custGeom>
              <a:avLst/>
              <a:gdLst/>
              <a:ahLst/>
              <a:cxnLst/>
              <a:rect r="r" b="b" t="t" l="l"/>
              <a:pathLst>
                <a:path h="520739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520739"/>
                  </a:lnTo>
                  <a:lnTo>
                    <a:pt x="0" y="520739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87942" cy="558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5393" y="2126530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6F7F7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951374" y="2069512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5393" y="417688"/>
            <a:ext cx="2654759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7" id="27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8272" y="0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98652" y="9277350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014748" y="8565973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679827" y="7585019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1602524" y="1602523"/>
                </a:moveTo>
                <a:lnTo>
                  <a:pt x="0" y="1602523"/>
                </a:lnTo>
                <a:lnTo>
                  <a:pt x="0" y="0"/>
                </a:lnTo>
                <a:lnTo>
                  <a:pt x="1602524" y="0"/>
                </a:lnTo>
                <a:lnTo>
                  <a:pt x="1602524" y="16025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4360" y="1019162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1- Real-Time Protection Module: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2853" y="1963291"/>
            <a:ext cx="11307731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Continuously monitors file system activities to detect malicious behavior using heuristics and behavior-based detection techniques.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94360" y="3546673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2- Malware Analysis Engine: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0003" y="4492436"/>
            <a:ext cx="121182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Combines signature-based detection with advanced machine learning models to identify both known and unknown threats.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94360" y="6075819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3- Update Manager: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8103" y="7020699"/>
            <a:ext cx="121182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Delivers secure, incremental updates to ensure the antivirus database and software components remain current with minimal resource consumption.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-525087" y="3395643"/>
            <a:ext cx="4558885" cy="1931908"/>
            <a:chOff x="0" y="0"/>
            <a:chExt cx="1187942" cy="5034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7942" cy="503412"/>
            </a:xfrm>
            <a:custGeom>
              <a:avLst/>
              <a:gdLst/>
              <a:ahLst/>
              <a:cxnLst/>
              <a:rect r="r" b="b" t="t" l="l"/>
              <a:pathLst>
                <a:path h="503412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503412"/>
                  </a:lnTo>
                  <a:lnTo>
                    <a:pt x="0" y="503412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87942" cy="54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25393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150364" y="4339004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8" id="28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8272" y="0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1502" y="9277350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014748" y="8565973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622677" y="7585019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1602524" y="1602523"/>
                </a:moveTo>
                <a:lnTo>
                  <a:pt x="0" y="1602523"/>
                </a:lnTo>
                <a:lnTo>
                  <a:pt x="0" y="0"/>
                </a:lnTo>
                <a:lnTo>
                  <a:pt x="1602524" y="0"/>
                </a:lnTo>
                <a:lnTo>
                  <a:pt x="1602524" y="16025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38644" y="2172889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4- Scanning Engine: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17976" y="3104893"/>
            <a:ext cx="121182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Supports quick scans, full system scans, and targeted scans for individual files or URLs, leveraging multi-threading for efficiency.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38644" y="5505038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5- User Interface (UI):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17976" y="6440393"/>
            <a:ext cx="121182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Developed with Tkinter for cross-platform compatibility, offering a user-friendly design with progress tracking and detailed logs.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-525087" y="3395643"/>
            <a:ext cx="4558885" cy="1931908"/>
            <a:chOff x="0" y="0"/>
            <a:chExt cx="1187942" cy="5034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7942" cy="503412"/>
            </a:xfrm>
            <a:custGeom>
              <a:avLst/>
              <a:gdLst/>
              <a:ahLst/>
              <a:cxnLst/>
              <a:rect r="r" b="b" t="t" l="l"/>
              <a:pathLst>
                <a:path h="503412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503412"/>
                  </a:lnTo>
                  <a:lnTo>
                    <a:pt x="0" y="503412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87942" cy="54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25393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150364" y="4339004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6" id="26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4005" y="-699539"/>
            <a:ext cx="3714840" cy="3742054"/>
          </a:xfrm>
          <a:custGeom>
            <a:avLst/>
            <a:gdLst/>
            <a:ahLst/>
            <a:cxnLst/>
            <a:rect r="r" b="b" t="t" l="l"/>
            <a:pathLst>
              <a:path h="3742054" w="3714840">
                <a:moveTo>
                  <a:pt x="0" y="0"/>
                </a:moveTo>
                <a:lnTo>
                  <a:pt x="3714840" y="0"/>
                </a:lnTo>
                <a:lnTo>
                  <a:pt x="3714840" y="3742055"/>
                </a:lnTo>
                <a:lnTo>
                  <a:pt x="0" y="374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28351" y="3302379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0" y="0"/>
                </a:moveTo>
                <a:lnTo>
                  <a:pt x="1602524" y="0"/>
                </a:lnTo>
                <a:lnTo>
                  <a:pt x="1602524" y="1602524"/>
                </a:lnTo>
                <a:lnTo>
                  <a:pt x="0" y="1602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41544" y="1300720"/>
            <a:ext cx="12581835" cy="8157814"/>
          </a:xfrm>
          <a:custGeom>
            <a:avLst/>
            <a:gdLst/>
            <a:ahLst/>
            <a:cxnLst/>
            <a:rect r="r" b="b" t="t" l="l"/>
            <a:pathLst>
              <a:path h="8157814" w="12581835">
                <a:moveTo>
                  <a:pt x="0" y="0"/>
                </a:moveTo>
                <a:lnTo>
                  <a:pt x="12581835" y="0"/>
                </a:lnTo>
                <a:lnTo>
                  <a:pt x="12581835" y="8157815"/>
                </a:lnTo>
                <a:lnTo>
                  <a:pt x="0" y="815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70" t="-8376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514350" y="5263265"/>
            <a:ext cx="4558885" cy="1781281"/>
            <a:chOff x="0" y="0"/>
            <a:chExt cx="1187942" cy="4641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7942" cy="464161"/>
            </a:xfrm>
            <a:custGeom>
              <a:avLst/>
              <a:gdLst/>
              <a:ahLst/>
              <a:cxnLst/>
              <a:rect r="r" b="b" t="t" l="l"/>
              <a:pathLst>
                <a:path h="464161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464161"/>
                  </a:lnTo>
                  <a:lnTo>
                    <a:pt x="0" y="464161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87942" cy="502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9139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976757" y="5914421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3" y="0"/>
                </a:lnTo>
                <a:lnTo>
                  <a:pt x="864383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1" id="21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  <p:sp>
        <p:nvSpPr>
          <p:cNvPr name="Freeform 23" id="23"/>
          <p:cNvSpPr/>
          <p:nvPr/>
        </p:nvSpPr>
        <p:spPr>
          <a:xfrm flipH="true" flipV="true" rot="0">
            <a:off x="4441544" y="8365290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20"/>
                </a:moveTo>
                <a:lnTo>
                  <a:pt x="0" y="1786020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2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0">
            <a:off x="16328437" y="8229963"/>
            <a:ext cx="1389884" cy="1389884"/>
          </a:xfrm>
          <a:custGeom>
            <a:avLst/>
            <a:gdLst/>
            <a:ahLst/>
            <a:cxnLst/>
            <a:rect r="r" b="b" t="t" l="l"/>
            <a:pathLst>
              <a:path h="1389884" w="1389884">
                <a:moveTo>
                  <a:pt x="1389884" y="1389885"/>
                </a:moveTo>
                <a:lnTo>
                  <a:pt x="0" y="1389885"/>
                </a:lnTo>
                <a:lnTo>
                  <a:pt x="0" y="0"/>
                </a:lnTo>
                <a:lnTo>
                  <a:pt x="1389884" y="0"/>
                </a:lnTo>
                <a:lnTo>
                  <a:pt x="1389884" y="138988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0117" y="9432090"/>
            <a:ext cx="3714840" cy="3742054"/>
          </a:xfrm>
          <a:custGeom>
            <a:avLst/>
            <a:gdLst/>
            <a:ahLst/>
            <a:cxnLst/>
            <a:rect r="r" b="b" t="t" l="l"/>
            <a:pathLst>
              <a:path h="3742054" w="3714840">
                <a:moveTo>
                  <a:pt x="0" y="0"/>
                </a:moveTo>
                <a:lnTo>
                  <a:pt x="3714840" y="0"/>
                </a:lnTo>
                <a:lnTo>
                  <a:pt x="3714840" y="3742055"/>
                </a:lnTo>
                <a:lnTo>
                  <a:pt x="0" y="374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40647" y="30502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8"/>
                </a:lnTo>
                <a:lnTo>
                  <a:pt x="0" y="2115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030134" y="8539081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96118" y="-3107699"/>
            <a:ext cx="3714840" cy="3742054"/>
          </a:xfrm>
          <a:custGeom>
            <a:avLst/>
            <a:gdLst/>
            <a:ahLst/>
            <a:cxnLst/>
            <a:rect r="r" b="b" t="t" l="l"/>
            <a:pathLst>
              <a:path h="3742054" w="3714840">
                <a:moveTo>
                  <a:pt x="0" y="0"/>
                </a:moveTo>
                <a:lnTo>
                  <a:pt x="3714839" y="0"/>
                </a:lnTo>
                <a:lnTo>
                  <a:pt x="3714839" y="3742054"/>
                </a:lnTo>
                <a:lnTo>
                  <a:pt x="0" y="3742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774291" y="8107609"/>
            <a:ext cx="1389884" cy="1389884"/>
          </a:xfrm>
          <a:custGeom>
            <a:avLst/>
            <a:gdLst/>
            <a:ahLst/>
            <a:cxnLst/>
            <a:rect r="r" b="b" t="t" l="l"/>
            <a:pathLst>
              <a:path h="1389884" w="1389884">
                <a:moveTo>
                  <a:pt x="1389884" y="1389884"/>
                </a:moveTo>
                <a:lnTo>
                  <a:pt x="0" y="1389884"/>
                </a:lnTo>
                <a:lnTo>
                  <a:pt x="0" y="0"/>
                </a:lnTo>
                <a:lnTo>
                  <a:pt x="1389884" y="0"/>
                </a:lnTo>
                <a:lnTo>
                  <a:pt x="1389884" y="13898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01584" y="2222440"/>
            <a:ext cx="13690408" cy="6580111"/>
          </a:xfrm>
          <a:custGeom>
            <a:avLst/>
            <a:gdLst/>
            <a:ahLst/>
            <a:cxnLst/>
            <a:rect r="r" b="b" t="t" l="l"/>
            <a:pathLst>
              <a:path h="6580111" w="13690408">
                <a:moveTo>
                  <a:pt x="0" y="0"/>
                </a:moveTo>
                <a:lnTo>
                  <a:pt x="13690408" y="0"/>
                </a:lnTo>
                <a:lnTo>
                  <a:pt x="13690408" y="6580111"/>
                </a:lnTo>
                <a:lnTo>
                  <a:pt x="0" y="65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030" r="0" b="-728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1584" y="817845"/>
            <a:ext cx="8778087" cy="108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299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Technical Deep Dive:-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-493637" y="7043160"/>
            <a:ext cx="4558885" cy="1838804"/>
            <a:chOff x="0" y="0"/>
            <a:chExt cx="1187942" cy="479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7942" cy="479151"/>
            </a:xfrm>
            <a:custGeom>
              <a:avLst/>
              <a:gdLst/>
              <a:ahLst/>
              <a:cxnLst/>
              <a:rect r="r" b="b" t="t" l="l"/>
              <a:pathLst>
                <a:path h="479151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479151"/>
                  </a:lnTo>
                  <a:lnTo>
                    <a:pt x="0" y="479151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87942" cy="517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25393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131734" y="7695701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4"/>
                </a:lnTo>
                <a:lnTo>
                  <a:pt x="0" y="8960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8272" y="0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65249" y="9258300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863885" y="8205783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1602523" y="1602523"/>
                </a:moveTo>
                <a:lnTo>
                  <a:pt x="0" y="1602523"/>
                </a:lnTo>
                <a:lnTo>
                  <a:pt x="0" y="0"/>
                </a:lnTo>
                <a:lnTo>
                  <a:pt x="1602523" y="0"/>
                </a:lnTo>
                <a:lnTo>
                  <a:pt x="1602523" y="16025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52066" y="1134966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Real-Time Threat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52066" y="2209119"/>
            <a:ext cx="12311819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File System Hooks: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Intercepts system calls for early detection of potential threats.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Anomaly Detection: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Identifies unexpected changes in critical system areas to preemptively flag threats.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52066" y="4918958"/>
            <a:ext cx="566181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Malware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2066" y="5892413"/>
            <a:ext cx="1028943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Employs a dual-layer analysis system: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2066" y="6788158"/>
            <a:ext cx="12213486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Static Analysis: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Extracts metadata and scans file contents without execution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Dynamic Analysis: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Observes file behavior in a controlled runtime environment.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-493637" y="7043160"/>
            <a:ext cx="4558885" cy="1838804"/>
            <a:chOff x="0" y="0"/>
            <a:chExt cx="1187942" cy="479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7942" cy="479151"/>
            </a:xfrm>
            <a:custGeom>
              <a:avLst/>
              <a:gdLst/>
              <a:ahLst/>
              <a:cxnLst/>
              <a:rect r="r" b="b" t="t" l="l"/>
              <a:pathLst>
                <a:path h="479151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479151"/>
                  </a:lnTo>
                  <a:lnTo>
                    <a:pt x="0" y="479151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87942" cy="517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79139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131734" y="7695701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4"/>
                </a:lnTo>
                <a:lnTo>
                  <a:pt x="0" y="896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6" id="26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8272" y="0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1502" y="9277350"/>
            <a:ext cx="3657600" cy="928434"/>
          </a:xfrm>
          <a:custGeom>
            <a:avLst/>
            <a:gdLst/>
            <a:ahLst/>
            <a:cxnLst/>
            <a:rect r="r" b="b" t="t" l="l"/>
            <a:pathLst>
              <a:path h="928434" w="3657600">
                <a:moveTo>
                  <a:pt x="0" y="0"/>
                </a:moveTo>
                <a:lnTo>
                  <a:pt x="3657600" y="0"/>
                </a:lnTo>
                <a:lnTo>
                  <a:pt x="3657600" y="928434"/>
                </a:lnTo>
                <a:lnTo>
                  <a:pt x="0" y="92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014748" y="8565973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1856920" y="1786019"/>
                </a:moveTo>
                <a:lnTo>
                  <a:pt x="0" y="1786019"/>
                </a:lnTo>
                <a:lnTo>
                  <a:pt x="0" y="0"/>
                </a:lnTo>
                <a:lnTo>
                  <a:pt x="1856920" y="0"/>
                </a:lnTo>
                <a:lnTo>
                  <a:pt x="1856920" y="1786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52066" y="1331031"/>
            <a:ext cx="95657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Data Protection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43208" y="2228935"/>
            <a:ext cx="11193300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Encryption: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 Employs AES-256 to secure sensitive data and a secure vault for user-protected files, inaccessible to unauthorized processes.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52066" y="4200673"/>
            <a:ext cx="10380699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2066" y="5114470"/>
            <a:ext cx="13150676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Scanning Speed: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 Processes 10,000 files in under 2 minutes on an average workstation.</a:t>
            </a:r>
          </a:p>
          <a:p>
            <a:pPr algn="just">
              <a:lnSpc>
                <a:spcPts val="3500"/>
              </a:lnSpc>
            </a:pP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Resource Usage: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CPU utilization remains below 15% during active scans, with memory usage under 200 MB.</a:t>
            </a:r>
          </a:p>
          <a:p>
            <a:pPr algn="just">
              <a:lnSpc>
                <a:spcPts val="3500"/>
              </a:lnSpc>
            </a:pP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Detection Accuracy: </a:t>
            </a:r>
            <a:r>
              <a:rPr lang="en-US" sz="2500">
                <a:solidFill>
                  <a:srgbClr val="0F2C33"/>
                </a:solidFill>
                <a:latin typeface="Quicksand"/>
                <a:ea typeface="Quicksand"/>
                <a:cs typeface="Quicksand"/>
                <a:sym typeface="Quicksand"/>
              </a:rPr>
              <a:t>Achieves a 98.7% detection rate in independent benchmarking tests.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-493637" y="7043160"/>
            <a:ext cx="4558885" cy="1838804"/>
            <a:chOff x="0" y="0"/>
            <a:chExt cx="1187942" cy="479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7942" cy="479151"/>
            </a:xfrm>
            <a:custGeom>
              <a:avLst/>
              <a:gdLst/>
              <a:ahLst/>
              <a:cxnLst/>
              <a:rect r="r" b="b" t="t" l="l"/>
              <a:pathLst>
                <a:path h="479151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479151"/>
                  </a:lnTo>
                  <a:lnTo>
                    <a:pt x="0" y="479151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87942" cy="517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79139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131734" y="7695701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4"/>
                </a:lnTo>
                <a:lnTo>
                  <a:pt x="0" y="896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5521" y="8924905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479139" y="9289049"/>
            <a:ext cx="3133204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4995317" y="7973191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1602524" y="1602523"/>
                </a:moveTo>
                <a:lnTo>
                  <a:pt x="0" y="1602523"/>
                </a:lnTo>
                <a:lnTo>
                  <a:pt x="0" y="0"/>
                </a:lnTo>
                <a:lnTo>
                  <a:pt x="1602524" y="0"/>
                </a:lnTo>
                <a:lnTo>
                  <a:pt x="1602524" y="16025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15168" y="1342209"/>
            <a:ext cx="14181296" cy="6630982"/>
          </a:xfrm>
          <a:custGeom>
            <a:avLst/>
            <a:gdLst/>
            <a:ahLst/>
            <a:cxnLst/>
            <a:rect r="r" b="b" t="t" l="l"/>
            <a:pathLst>
              <a:path h="6630982" w="14181296">
                <a:moveTo>
                  <a:pt x="0" y="0"/>
                </a:moveTo>
                <a:lnTo>
                  <a:pt x="14181296" y="0"/>
                </a:lnTo>
                <a:lnTo>
                  <a:pt x="14181296" y="6630982"/>
                </a:lnTo>
                <a:lnTo>
                  <a:pt x="0" y="6630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67" t="0" r="-34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4010" y="8664760"/>
            <a:ext cx="4152455" cy="4182875"/>
          </a:xfrm>
          <a:custGeom>
            <a:avLst/>
            <a:gdLst/>
            <a:ahLst/>
            <a:cxnLst/>
            <a:rect r="r" b="b" t="t" l="l"/>
            <a:pathLst>
              <a:path h="4182875" w="4152455">
                <a:moveTo>
                  <a:pt x="0" y="0"/>
                </a:moveTo>
                <a:lnTo>
                  <a:pt x="4152454" y="0"/>
                </a:lnTo>
                <a:lnTo>
                  <a:pt x="4152454" y="4182875"/>
                </a:lnTo>
                <a:lnTo>
                  <a:pt x="0" y="4182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1137" y="233353"/>
            <a:ext cx="798275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F2C3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Planned Enhancements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521" y="45446"/>
            <a:ext cx="4039014" cy="11071585"/>
            <a:chOff x="0" y="0"/>
            <a:chExt cx="1052475" cy="28850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2475" cy="2885004"/>
            </a:xfrm>
            <a:custGeom>
              <a:avLst/>
              <a:gdLst/>
              <a:ahLst/>
              <a:cxnLst/>
              <a:rect r="r" b="b" t="t" l="l"/>
              <a:pathLst>
                <a:path h="2885004" w="1052475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5521" y="1543408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6234" y="3372913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521" y="530482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6234" y="7086101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717" y="8982055"/>
            <a:ext cx="4558885" cy="1362095"/>
            <a:chOff x="0" y="0"/>
            <a:chExt cx="1187942" cy="354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7942" cy="354931"/>
            </a:xfrm>
            <a:custGeom>
              <a:avLst/>
              <a:gdLst/>
              <a:ahLst/>
              <a:cxnLst/>
              <a:rect r="r" b="b" t="t" l="l"/>
              <a:pathLst>
                <a:path h="354931" w="1187942">
                  <a:moveTo>
                    <a:pt x="0" y="0"/>
                  </a:moveTo>
                  <a:lnTo>
                    <a:pt x="1187942" y="0"/>
                  </a:lnTo>
                  <a:lnTo>
                    <a:pt x="1187942" y="354931"/>
                  </a:lnTo>
                  <a:lnTo>
                    <a:pt x="0" y="354931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7942" cy="393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5393" y="2169956"/>
            <a:ext cx="3315748" cy="5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9139" y="37286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AND CORE MODULES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210390" y="9315430"/>
            <a:ext cx="864384" cy="896023"/>
          </a:xfrm>
          <a:custGeom>
            <a:avLst/>
            <a:gdLst/>
            <a:ahLst/>
            <a:cxnLst/>
            <a:rect r="r" b="b" t="t" l="l"/>
            <a:pathLst>
              <a:path h="896023" w="864384">
                <a:moveTo>
                  <a:pt x="0" y="0"/>
                </a:moveTo>
                <a:lnTo>
                  <a:pt x="864384" y="0"/>
                </a:lnTo>
                <a:lnTo>
                  <a:pt x="864384" y="896023"/>
                </a:lnTo>
                <a:lnTo>
                  <a:pt x="0" y="89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5393" y="5594252"/>
            <a:ext cx="285817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INNOVATIVE APPROACHES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393" y="417688"/>
            <a:ext cx="2654759" cy="51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5393" y="7375532"/>
            <a:ext cx="3133204" cy="105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b="true" sz="3032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TECHNICAL DEEP DIVE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521" y="8972530"/>
            <a:ext cx="4039014" cy="0"/>
          </a:xfrm>
          <a:prstGeom prst="line">
            <a:avLst/>
          </a:prstGeom>
          <a:ln cap="flat" w="38100">
            <a:solidFill>
              <a:srgbClr val="0F2C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479139" y="9298574"/>
            <a:ext cx="3133204" cy="47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b="true" sz="28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FUTURE ROADMAP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740747" y="284339"/>
            <a:ext cx="2199728" cy="2115739"/>
          </a:xfrm>
          <a:custGeom>
            <a:avLst/>
            <a:gdLst/>
            <a:ahLst/>
            <a:cxnLst/>
            <a:rect r="r" b="b" t="t" l="l"/>
            <a:pathLst>
              <a:path h="2115739" w="2199728">
                <a:moveTo>
                  <a:pt x="0" y="0"/>
                </a:moveTo>
                <a:lnTo>
                  <a:pt x="2199728" y="0"/>
                </a:lnTo>
                <a:lnTo>
                  <a:pt x="2199728" y="2115739"/>
                </a:lnTo>
                <a:lnTo>
                  <a:pt x="0" y="21157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7519" y="1540697"/>
            <a:ext cx="13773953" cy="8389589"/>
          </a:xfrm>
          <a:custGeom>
            <a:avLst/>
            <a:gdLst/>
            <a:ahLst/>
            <a:cxnLst/>
            <a:rect r="r" b="b" t="t" l="l"/>
            <a:pathLst>
              <a:path h="8389589" w="13773953">
                <a:moveTo>
                  <a:pt x="0" y="0"/>
                </a:moveTo>
                <a:lnTo>
                  <a:pt x="13773953" y="0"/>
                </a:lnTo>
                <a:lnTo>
                  <a:pt x="13773953" y="8389589"/>
                </a:lnTo>
                <a:lnTo>
                  <a:pt x="0" y="838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41970" y="3657971"/>
            <a:ext cx="13041580" cy="203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F2C3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SwiftGuard Antivirus Scanner delivers unparalleled security through its advanced detection mechanisms, modular architecture, and resource-efficient design. By combining cutting-edge technology with user-focused 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5765576"/>
            <a:ext cx="5695237" cy="1267190"/>
          </a:xfrm>
          <a:custGeom>
            <a:avLst/>
            <a:gdLst/>
            <a:ahLst/>
            <a:cxnLst/>
            <a:rect r="r" b="b" t="t" l="l"/>
            <a:pathLst>
              <a:path h="1267190" w="5695237">
                <a:moveTo>
                  <a:pt x="0" y="0"/>
                </a:moveTo>
                <a:lnTo>
                  <a:pt x="5695237" y="0"/>
                </a:lnTo>
                <a:lnTo>
                  <a:pt x="5695237" y="1267190"/>
                </a:lnTo>
                <a:lnTo>
                  <a:pt x="0" y="1267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8720" y="-1163493"/>
            <a:ext cx="3714840" cy="3742054"/>
          </a:xfrm>
          <a:custGeom>
            <a:avLst/>
            <a:gdLst/>
            <a:ahLst/>
            <a:cxnLst/>
            <a:rect r="r" b="b" t="t" l="l"/>
            <a:pathLst>
              <a:path h="3742054" w="3714840">
                <a:moveTo>
                  <a:pt x="0" y="0"/>
                </a:moveTo>
                <a:lnTo>
                  <a:pt x="3714840" y="0"/>
                </a:lnTo>
                <a:lnTo>
                  <a:pt x="3714840" y="3742055"/>
                </a:lnTo>
                <a:lnTo>
                  <a:pt x="0" y="3742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0157" y="7269683"/>
            <a:ext cx="1602524" cy="1602524"/>
          </a:xfrm>
          <a:custGeom>
            <a:avLst/>
            <a:gdLst/>
            <a:ahLst/>
            <a:cxnLst/>
            <a:rect r="r" b="b" t="t" l="l"/>
            <a:pathLst>
              <a:path h="1602524" w="1602524">
                <a:moveTo>
                  <a:pt x="0" y="0"/>
                </a:moveTo>
                <a:lnTo>
                  <a:pt x="1602523" y="0"/>
                </a:lnTo>
                <a:lnTo>
                  <a:pt x="1602523" y="1602524"/>
                </a:lnTo>
                <a:lnTo>
                  <a:pt x="0" y="1602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5815" y="-757319"/>
            <a:ext cx="1856920" cy="1786019"/>
          </a:xfrm>
          <a:custGeom>
            <a:avLst/>
            <a:gdLst/>
            <a:ahLst/>
            <a:cxnLst/>
            <a:rect r="r" b="b" t="t" l="l"/>
            <a:pathLst>
              <a:path h="1786019" w="1856920">
                <a:moveTo>
                  <a:pt x="0" y="0"/>
                </a:moveTo>
                <a:lnTo>
                  <a:pt x="1856919" y="0"/>
                </a:lnTo>
                <a:lnTo>
                  <a:pt x="1856919" y="1786019"/>
                </a:lnTo>
                <a:lnTo>
                  <a:pt x="0" y="17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872" y="6032336"/>
            <a:ext cx="6066939" cy="87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6"/>
              </a:lnSpc>
            </a:pPr>
            <a:r>
              <a:rPr lang="en-US" b="true" sz="5140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CONCLUSION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82143" y="6546892"/>
            <a:ext cx="9732658" cy="254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F2C3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SGAVS provides a reliable and scalable solution for staying ahead in the cybersecurity landscape. Its ongoing enhancements and future-focused roadmap ensure continued leadership in protecting against evolving digital threats.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18527" y="119191"/>
            <a:ext cx="3134223" cy="3014552"/>
          </a:xfrm>
          <a:custGeom>
            <a:avLst/>
            <a:gdLst/>
            <a:ahLst/>
            <a:cxnLst/>
            <a:rect r="r" b="b" t="t" l="l"/>
            <a:pathLst>
              <a:path h="3014552" w="3134223">
                <a:moveTo>
                  <a:pt x="0" y="0"/>
                </a:moveTo>
                <a:lnTo>
                  <a:pt x="3134223" y="0"/>
                </a:lnTo>
                <a:lnTo>
                  <a:pt x="3134223" y="3014553"/>
                </a:lnTo>
                <a:lnTo>
                  <a:pt x="0" y="3014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8747" y="484327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9160" y="-2115587"/>
            <a:ext cx="3714840" cy="3742054"/>
          </a:xfrm>
          <a:custGeom>
            <a:avLst/>
            <a:gdLst/>
            <a:ahLst/>
            <a:cxnLst/>
            <a:rect r="r" b="b" t="t" l="l"/>
            <a:pathLst>
              <a:path h="3742054" w="3714840">
                <a:moveTo>
                  <a:pt x="0" y="0"/>
                </a:moveTo>
                <a:lnTo>
                  <a:pt x="3714840" y="0"/>
                </a:lnTo>
                <a:lnTo>
                  <a:pt x="3714840" y="3742054"/>
                </a:lnTo>
                <a:lnTo>
                  <a:pt x="0" y="3742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94516" y="6698674"/>
            <a:ext cx="2441759" cy="404000"/>
          </a:xfrm>
          <a:custGeom>
            <a:avLst/>
            <a:gdLst/>
            <a:ahLst/>
            <a:cxnLst/>
            <a:rect r="r" b="b" t="t" l="l"/>
            <a:pathLst>
              <a:path h="404000" w="2441759">
                <a:moveTo>
                  <a:pt x="0" y="0"/>
                </a:moveTo>
                <a:lnTo>
                  <a:pt x="2441759" y="0"/>
                </a:lnTo>
                <a:lnTo>
                  <a:pt x="2441759" y="404000"/>
                </a:lnTo>
                <a:lnTo>
                  <a:pt x="0" y="404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9473" y="2933719"/>
            <a:ext cx="11749054" cy="178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0"/>
              </a:lnSpc>
            </a:pPr>
            <a:r>
              <a:rPr lang="en-US" b="true" sz="10443">
                <a:solidFill>
                  <a:srgbClr val="0F2C33"/>
                </a:solidFill>
                <a:latin typeface="Oswald Bold"/>
                <a:ea typeface="Oswald Bold"/>
                <a:cs typeface="Oswald Bold"/>
                <a:sym typeface="Oswald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65417" y="4981321"/>
            <a:ext cx="13120221" cy="6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b="true" sz="4002">
                <a:solidFill>
                  <a:srgbClr val="0F2C3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Presentation by Mohamed Khaled Nassar</a:t>
            </a:r>
            <a:r>
              <a:rPr lang="en-US" b="true" sz="4002">
                <a:solidFill>
                  <a:srgbClr val="0F2C3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DAGaAnN6iU4</dc:identifier>
  <dcterms:modified xsi:type="dcterms:W3CDTF">2011-08-01T06:04:30Z</dcterms:modified>
  <cp:revision>1</cp:revision>
  <dc:title>نسخة من Dark Green and White Modern Minimalist Thesis Defense Presentation</dc:title>
</cp:coreProperties>
</file>